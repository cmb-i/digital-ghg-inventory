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4144"/>
    <a:srgbClr val="335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3" autoAdjust="0"/>
    <p:restoredTop sz="94660"/>
  </p:normalViewPr>
  <p:slideViewPr>
    <p:cSldViewPr snapToGrid="0">
      <p:cViewPr varScale="1">
        <p:scale>
          <a:sx n="47" d="100"/>
          <a:sy n="47" d="100"/>
        </p:scale>
        <p:origin x="78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4DD59-4D89-7EB3-DCE7-3A8F7CF087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B27CE4-949A-F496-3C5F-6FBBCBB848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33AB0A-2257-778C-D4AC-3D91533EA39E}"/>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5" name="Footer Placeholder 4">
            <a:extLst>
              <a:ext uri="{FF2B5EF4-FFF2-40B4-BE49-F238E27FC236}">
                <a16:creationId xmlns:a16="http://schemas.microsoft.com/office/drawing/2014/main" id="{7AE3F28F-BBF7-8E27-42DA-0537A2C306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5FA67-8603-F5F1-B560-4DFE1822370C}"/>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1691973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6127B-D039-0FFB-EF53-E884C06A70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1C23F9-4D9E-814E-2463-6FA006CA12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8A907-001C-E820-56F4-C23ED8EB73F5}"/>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5" name="Footer Placeholder 4">
            <a:extLst>
              <a:ext uri="{FF2B5EF4-FFF2-40B4-BE49-F238E27FC236}">
                <a16:creationId xmlns:a16="http://schemas.microsoft.com/office/drawing/2014/main" id="{D0AFD2E7-9FAA-4292-CC56-8108E9E7EE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4E04C-EA59-C7FB-AA97-82702769ED5E}"/>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1372029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3675F-5BD7-C5C0-0F38-3C2671FC7A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4B6E0A-5FA3-19F6-33E3-1677F829AB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D9D413-2A1B-9B8F-982E-3F75F6885BBE}"/>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5" name="Footer Placeholder 4">
            <a:extLst>
              <a:ext uri="{FF2B5EF4-FFF2-40B4-BE49-F238E27FC236}">
                <a16:creationId xmlns:a16="http://schemas.microsoft.com/office/drawing/2014/main" id="{9C8AB5BE-1660-8D7C-593D-9F3735E34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65CE12-FF3D-5764-7013-8E98FDC78265}"/>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2139822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C548-DF55-0A13-AB84-1AAB403501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5B76F9-644D-FFE3-DC10-A6CDA58EB9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5242879-CB32-586D-560C-2BCD183D5B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7AA6F7-B85B-D66C-3ADB-DFF08506D57A}"/>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6" name="Footer Placeholder 5">
            <a:extLst>
              <a:ext uri="{FF2B5EF4-FFF2-40B4-BE49-F238E27FC236}">
                <a16:creationId xmlns:a16="http://schemas.microsoft.com/office/drawing/2014/main" id="{E04FCA26-1A13-80B9-3FF2-8FDF7C65E6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6AD829-9A44-2508-271A-A047603F952D}"/>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1377124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044E7-FD71-8702-DEFF-BA33D179BF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0A2762-2DE9-F1AD-6BC9-74335E5C19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263E92-CD05-9440-3EB5-2B4185D43E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126054-A228-36E8-F1E7-0600B067EE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8CEFC2-9064-84DA-DE58-DF45576974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76B99A-FB0A-2FFE-40B4-6CCF43D04822}"/>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8" name="Footer Placeholder 7">
            <a:extLst>
              <a:ext uri="{FF2B5EF4-FFF2-40B4-BE49-F238E27FC236}">
                <a16:creationId xmlns:a16="http://schemas.microsoft.com/office/drawing/2014/main" id="{87C6E920-EE24-013C-948F-A9ACDB9309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421D08-6D8D-48B4-29DE-C87FE189E40F}"/>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1261412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4B52-77D4-A57A-E777-F4C98597FD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AEDDA3-3876-1488-D7CF-67BCDAD2E1E5}"/>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4" name="Footer Placeholder 3">
            <a:extLst>
              <a:ext uri="{FF2B5EF4-FFF2-40B4-BE49-F238E27FC236}">
                <a16:creationId xmlns:a16="http://schemas.microsoft.com/office/drawing/2014/main" id="{B3A10371-4648-5ABE-E735-50EAC66F1B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4FFCBAA-C6AE-01DD-FD34-D7CDBC4B1E9A}"/>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3712676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EEC94-9942-E8F0-2EE2-D9C9DDEFBDEC}"/>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3" name="Footer Placeholder 2">
            <a:extLst>
              <a:ext uri="{FF2B5EF4-FFF2-40B4-BE49-F238E27FC236}">
                <a16:creationId xmlns:a16="http://schemas.microsoft.com/office/drawing/2014/main" id="{67480CE2-B930-8B4A-2C81-79DE50C963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D314C3-648A-351D-B052-451D0A34740F}"/>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364500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41C5A-24DD-1B2E-8486-CD368E124E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023E68-DF56-FF49-D30C-46603D00FE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ECCDC6-07CE-9833-29A8-BD1B124BD0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0391EB-85E7-F887-0C35-2A654C273275}"/>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6" name="Footer Placeholder 5">
            <a:extLst>
              <a:ext uri="{FF2B5EF4-FFF2-40B4-BE49-F238E27FC236}">
                <a16:creationId xmlns:a16="http://schemas.microsoft.com/office/drawing/2014/main" id="{0F078136-B221-B516-87F0-F653BEA0D8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EB13E6-71FF-D9D5-120D-C09FDE60C209}"/>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1757710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64A8A-F7FD-1F21-9A7D-DFA15711B4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C5D703-C5F1-D9F5-6E93-BB0115DE9C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BA3F76B-E5DB-5083-C69D-E198136917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642084-0E2D-421B-BB65-B311C9A7D96B}"/>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6" name="Footer Placeholder 5">
            <a:extLst>
              <a:ext uri="{FF2B5EF4-FFF2-40B4-BE49-F238E27FC236}">
                <a16:creationId xmlns:a16="http://schemas.microsoft.com/office/drawing/2014/main" id="{E6504C06-F5B8-36F4-7942-474C421161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B6EE6-0F8B-FD8F-00A4-59AAB5CD4EB9}"/>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3109591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B769C-40BA-5F3A-E3EA-D2A403EC93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9FA55E-5220-DA5B-FE02-FCEAB8B5F6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F5436-8736-BAD4-7574-A9D9BE37FD55}"/>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5" name="Footer Placeholder 4">
            <a:extLst>
              <a:ext uri="{FF2B5EF4-FFF2-40B4-BE49-F238E27FC236}">
                <a16:creationId xmlns:a16="http://schemas.microsoft.com/office/drawing/2014/main" id="{BEE0AA52-31F1-A802-B2F9-2F61D9EF8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DEEDD-BDB1-EA16-C13D-09FEF54E3AC5}"/>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3038756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FE6FB5-B5BF-F198-8B3F-8E25C7F938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833CD2-DEB0-F453-1BCF-9DA6CFEF33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0E4082-780A-8D92-1966-A15D369480AA}"/>
              </a:ext>
            </a:extLst>
          </p:cNvPr>
          <p:cNvSpPr>
            <a:spLocks noGrp="1"/>
          </p:cNvSpPr>
          <p:nvPr>
            <p:ph type="dt" sz="half" idx="10"/>
          </p:nvPr>
        </p:nvSpPr>
        <p:spPr/>
        <p:txBody>
          <a:bodyPr/>
          <a:lstStyle/>
          <a:p>
            <a:fld id="{2E685AD2-E8BF-493E-98A3-96D069D49745}" type="datetimeFigureOut">
              <a:rPr lang="en-US" smtClean="0"/>
              <a:t>6/14/2026</a:t>
            </a:fld>
            <a:endParaRPr lang="en-US"/>
          </a:p>
        </p:txBody>
      </p:sp>
      <p:sp>
        <p:nvSpPr>
          <p:cNvPr id="5" name="Footer Placeholder 4">
            <a:extLst>
              <a:ext uri="{FF2B5EF4-FFF2-40B4-BE49-F238E27FC236}">
                <a16:creationId xmlns:a16="http://schemas.microsoft.com/office/drawing/2014/main" id="{6FD28BF8-BBD2-B02B-2DAC-D233CDF7E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5E6210-DF89-B6F1-6C54-82942811CD72}"/>
              </a:ext>
            </a:extLst>
          </p:cNvPr>
          <p:cNvSpPr>
            <a:spLocks noGrp="1"/>
          </p:cNvSpPr>
          <p:nvPr>
            <p:ph type="sldNum" sz="quarter" idx="12"/>
          </p:nvPr>
        </p:nvSpPr>
        <p:spPr/>
        <p:txBody>
          <a:bodyPr/>
          <a:lstStyle/>
          <a:p>
            <a:fld id="{70F889AB-6FB4-4F3A-9F18-5D440A73E70D}" type="slidenum">
              <a:rPr lang="en-US" smtClean="0"/>
              <a:t>‹#›</a:t>
            </a:fld>
            <a:endParaRPr lang="en-US"/>
          </a:p>
        </p:txBody>
      </p:sp>
    </p:spTree>
    <p:extLst>
      <p:ext uri="{BB962C8B-B14F-4D97-AF65-F5344CB8AC3E}">
        <p14:creationId xmlns:p14="http://schemas.microsoft.com/office/powerpoint/2010/main" val="158281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2E906C-F762-41B7-2DB1-041F9F1DC3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589F81-5C3B-2A4F-1822-617DCFD3E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6B15B4-3914-CCE2-01D2-186CCBF7E3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85AD2-E8BF-493E-98A3-96D069D49745}" type="datetimeFigureOut">
              <a:rPr lang="en-US" smtClean="0"/>
              <a:t>6/14/2026</a:t>
            </a:fld>
            <a:endParaRPr lang="en-US"/>
          </a:p>
        </p:txBody>
      </p:sp>
      <p:sp>
        <p:nvSpPr>
          <p:cNvPr id="5" name="Footer Placeholder 4">
            <a:extLst>
              <a:ext uri="{FF2B5EF4-FFF2-40B4-BE49-F238E27FC236}">
                <a16:creationId xmlns:a16="http://schemas.microsoft.com/office/drawing/2014/main" id="{B3F4A539-2F91-FC8C-5993-97DBF1A35D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14075E1-1DC9-71F8-20B9-5D1180254E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F889AB-6FB4-4F3A-9F18-5D440A73E70D}" type="slidenum">
              <a:rPr lang="en-US" smtClean="0"/>
              <a:t>‹#›</a:t>
            </a:fld>
            <a:endParaRPr lang="en-US"/>
          </a:p>
        </p:txBody>
      </p:sp>
    </p:spTree>
    <p:extLst>
      <p:ext uri="{BB962C8B-B14F-4D97-AF65-F5344CB8AC3E}">
        <p14:creationId xmlns:p14="http://schemas.microsoft.com/office/powerpoint/2010/main" val="2525147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1B4DC6B-E356-45E4-E2EB-574C305620E8}"/>
              </a:ext>
            </a:extLst>
          </p:cNvPr>
          <p:cNvSpPr>
            <a:spLocks noGrp="1"/>
          </p:cNvSpPr>
          <p:nvPr>
            <p:ph type="ctrTitle"/>
          </p:nvPr>
        </p:nvSpPr>
        <p:spPr>
          <a:xfrm>
            <a:off x="541825" y="777850"/>
            <a:ext cx="10993549" cy="1475013"/>
          </a:xfrm>
        </p:spPr>
        <p:txBody>
          <a:bodyPr>
            <a:normAutofit/>
          </a:bodyPr>
          <a:lstStyle/>
          <a:p>
            <a:pPr algn="l"/>
            <a:r>
              <a:rPr lang="en-US" dirty="0">
                <a:solidFill>
                  <a:srgbClr val="D52B2E"/>
                </a:solidFill>
                <a:latin typeface="Bahnschrift Light SemiCondensed" panose="020B0502040204020203" pitchFamily="34" charset="0"/>
              </a:rPr>
              <a:t>DIGITAL GHG INVENTORY SYSTEM</a:t>
            </a:r>
          </a:p>
        </p:txBody>
      </p:sp>
      <p:sp>
        <p:nvSpPr>
          <p:cNvPr id="5" name="Subtitle 2">
            <a:extLst>
              <a:ext uri="{FF2B5EF4-FFF2-40B4-BE49-F238E27FC236}">
                <a16:creationId xmlns:a16="http://schemas.microsoft.com/office/drawing/2014/main" id="{53AD28A6-C12B-7E93-BE38-F96E00B6D420}"/>
              </a:ext>
            </a:extLst>
          </p:cNvPr>
          <p:cNvSpPr>
            <a:spLocks noGrp="1"/>
          </p:cNvSpPr>
          <p:nvPr>
            <p:ph type="subTitle" idx="1"/>
          </p:nvPr>
        </p:nvSpPr>
        <p:spPr>
          <a:xfrm>
            <a:off x="618359" y="2205950"/>
            <a:ext cx="10993546" cy="468233"/>
          </a:xfrm>
        </p:spPr>
        <p:txBody>
          <a:bodyPr>
            <a:normAutofit/>
          </a:bodyPr>
          <a:lstStyle/>
          <a:p>
            <a:pPr algn="l"/>
            <a:r>
              <a:rPr lang="en-US" b="1" dirty="0">
                <a:solidFill>
                  <a:srgbClr val="33559E"/>
                </a:solidFill>
              </a:rPr>
              <a:t>SHATAM RAI </a:t>
            </a:r>
          </a:p>
        </p:txBody>
      </p:sp>
      <p:pic>
        <p:nvPicPr>
          <p:cNvPr id="6" name="Picture 5">
            <a:extLst>
              <a:ext uri="{FF2B5EF4-FFF2-40B4-BE49-F238E27FC236}">
                <a16:creationId xmlns:a16="http://schemas.microsoft.com/office/drawing/2014/main" id="{D99A7205-C88B-5699-6950-2128EFAEE33F}"/>
              </a:ext>
            </a:extLst>
          </p:cNvPr>
          <p:cNvPicPr>
            <a:picLocks noChangeAspect="1"/>
          </p:cNvPicPr>
          <p:nvPr/>
        </p:nvPicPr>
        <p:blipFill>
          <a:blip r:embed="rId2"/>
          <a:stretch>
            <a:fillRect/>
          </a:stretch>
        </p:blipFill>
        <p:spPr>
          <a:xfrm>
            <a:off x="618359" y="3233057"/>
            <a:ext cx="10955282" cy="2926280"/>
          </a:xfrm>
          <a:prstGeom prst="rect">
            <a:avLst/>
          </a:prstGeom>
        </p:spPr>
      </p:pic>
      <p:pic>
        <p:nvPicPr>
          <p:cNvPr id="8" name="Picture 7">
            <a:extLst>
              <a:ext uri="{FF2B5EF4-FFF2-40B4-BE49-F238E27FC236}">
                <a16:creationId xmlns:a16="http://schemas.microsoft.com/office/drawing/2014/main" id="{C65F0131-AD5D-DED8-6D67-C81069AD96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825" y="161406"/>
            <a:ext cx="3452159" cy="1074513"/>
          </a:xfrm>
          <a:prstGeom prst="rect">
            <a:avLst/>
          </a:prstGeom>
        </p:spPr>
      </p:pic>
    </p:spTree>
    <p:extLst>
      <p:ext uri="{BB962C8B-B14F-4D97-AF65-F5344CB8AC3E}">
        <p14:creationId xmlns:p14="http://schemas.microsoft.com/office/powerpoint/2010/main" val="4165004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8AA235C-0906-5E3D-8A88-B6713E9957BD}"/>
              </a:ext>
            </a:extLst>
          </p:cNvPr>
          <p:cNvSpPr>
            <a:spLocks noGrp="1"/>
          </p:cNvSpPr>
          <p:nvPr>
            <p:ph type="title"/>
          </p:nvPr>
        </p:nvSpPr>
        <p:spPr>
          <a:xfrm>
            <a:off x="838200" y="250825"/>
            <a:ext cx="10515600" cy="1325563"/>
          </a:xfrm>
        </p:spPr>
        <p:txBody>
          <a:bodyPr>
            <a:normAutofit/>
          </a:bodyPr>
          <a:lstStyle/>
          <a:p>
            <a:pPr algn="l"/>
            <a:r>
              <a:rPr lang="en-US" sz="3600" dirty="0">
                <a:solidFill>
                  <a:srgbClr val="D52B2E"/>
                </a:solidFill>
                <a:latin typeface="Bahnschrift Light SemiCondensed" panose="020B0502040204020203" pitchFamily="34" charset="0"/>
              </a:rPr>
              <a:t>MODULES IMPLEMENTED</a:t>
            </a:r>
          </a:p>
        </p:txBody>
      </p:sp>
      <p:pic>
        <p:nvPicPr>
          <p:cNvPr id="5" name="Picture 4">
            <a:extLst>
              <a:ext uri="{FF2B5EF4-FFF2-40B4-BE49-F238E27FC236}">
                <a16:creationId xmlns:a16="http://schemas.microsoft.com/office/drawing/2014/main" id="{38CAABB4-7D0D-8AA6-C6DE-2DF4574F17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7968" y="51191"/>
            <a:ext cx="2119732" cy="659784"/>
          </a:xfrm>
          <a:prstGeom prst="rect">
            <a:avLst/>
          </a:prstGeom>
        </p:spPr>
      </p:pic>
      <p:sp>
        <p:nvSpPr>
          <p:cNvPr id="6" name="Title 1">
            <a:extLst>
              <a:ext uri="{FF2B5EF4-FFF2-40B4-BE49-F238E27FC236}">
                <a16:creationId xmlns:a16="http://schemas.microsoft.com/office/drawing/2014/main" id="{AECC33F2-44CB-5912-62A5-18FA000DF567}"/>
              </a:ext>
            </a:extLst>
          </p:cNvPr>
          <p:cNvSpPr txBox="1">
            <a:spLocks/>
          </p:cNvSpPr>
          <p:nvPr/>
        </p:nvSpPr>
        <p:spPr>
          <a:xfrm>
            <a:off x="838200" y="10563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33559E"/>
                </a:solidFill>
                <a:latin typeface="Bahnschrift Light SemiCondensed" panose="020B0502040204020203" pitchFamily="34" charset="0"/>
              </a:rPr>
              <a:t>Notification Engine</a:t>
            </a:r>
            <a:br>
              <a:rPr lang="en-US" sz="2400" dirty="0">
                <a:solidFill>
                  <a:srgbClr val="33559E"/>
                </a:solidFill>
                <a:latin typeface="Bahnschrift Light SemiCondensed" panose="020B0502040204020203" pitchFamily="34" charset="0"/>
              </a:rPr>
            </a:br>
            <a:endParaRPr lang="en-US" sz="2400" dirty="0">
              <a:solidFill>
                <a:srgbClr val="33559E"/>
              </a:solidFill>
              <a:latin typeface="Bahnschrift Light SemiCondensed" panose="020B0502040204020203" pitchFamily="34" charset="0"/>
            </a:endParaRPr>
          </a:p>
        </p:txBody>
      </p:sp>
      <p:sp>
        <p:nvSpPr>
          <p:cNvPr id="9" name="TextBox 8">
            <a:extLst>
              <a:ext uri="{FF2B5EF4-FFF2-40B4-BE49-F238E27FC236}">
                <a16:creationId xmlns:a16="http://schemas.microsoft.com/office/drawing/2014/main" id="{1A688E42-354F-46F7-D90F-7CCCDB09937B}"/>
              </a:ext>
            </a:extLst>
          </p:cNvPr>
          <p:cNvSpPr txBox="1"/>
          <p:nvPr/>
        </p:nvSpPr>
        <p:spPr>
          <a:xfrm>
            <a:off x="838200" y="1897253"/>
            <a:ext cx="4631871" cy="4154984"/>
          </a:xfrm>
          <a:prstGeom prst="rect">
            <a:avLst/>
          </a:prstGeom>
          <a:noFill/>
        </p:spPr>
        <p:txBody>
          <a:bodyPr wrap="square">
            <a:spAutoFit/>
          </a:bodyPr>
          <a:lstStyle/>
          <a:p>
            <a:r>
              <a:rPr lang="en-US" sz="2400" b="0" i="0" dirty="0">
                <a:effectLst/>
                <a:latin typeface="+mj-lt"/>
              </a:rPr>
              <a:t>Dispatches event-driven in-app alerts to minimize reporting delays. It alerts SPOCs instantly when a sheet is sent back for corrections, feeds a navigation bell widget with direct links, and maintains a notification history dashboard for sustainability officers. Notifications are manually tested and work even on multi approval levels and change requests/rejections.</a:t>
            </a:r>
            <a:endParaRPr lang="en-US" sz="2400" dirty="0">
              <a:latin typeface="+mj-lt"/>
            </a:endParaRPr>
          </a:p>
        </p:txBody>
      </p:sp>
      <p:pic>
        <p:nvPicPr>
          <p:cNvPr id="15" name="Picture 14">
            <a:extLst>
              <a:ext uri="{FF2B5EF4-FFF2-40B4-BE49-F238E27FC236}">
                <a16:creationId xmlns:a16="http://schemas.microsoft.com/office/drawing/2014/main" id="{5B42C70E-74FB-07B4-C421-198FE482537D}"/>
              </a:ext>
            </a:extLst>
          </p:cNvPr>
          <p:cNvPicPr>
            <a:picLocks noChangeAspect="1"/>
          </p:cNvPicPr>
          <p:nvPr/>
        </p:nvPicPr>
        <p:blipFill>
          <a:blip r:embed="rId3"/>
          <a:stretch>
            <a:fillRect/>
          </a:stretch>
        </p:blipFill>
        <p:spPr>
          <a:xfrm>
            <a:off x="5470071" y="1747157"/>
            <a:ext cx="6417129" cy="4305079"/>
          </a:xfrm>
          <a:prstGeom prst="rect">
            <a:avLst/>
          </a:prstGeom>
        </p:spPr>
      </p:pic>
    </p:spTree>
    <p:extLst>
      <p:ext uri="{BB962C8B-B14F-4D97-AF65-F5344CB8AC3E}">
        <p14:creationId xmlns:p14="http://schemas.microsoft.com/office/powerpoint/2010/main" val="215426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E9EB-AB2D-4BF8-03C8-77D9D8627B5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6D7B7ED-2CA1-D330-B825-3908CD4C47CA}"/>
              </a:ext>
            </a:extLst>
          </p:cNvPr>
          <p:cNvSpPr>
            <a:spLocks noGrp="1"/>
          </p:cNvSpPr>
          <p:nvPr>
            <p:ph type="title"/>
          </p:nvPr>
        </p:nvSpPr>
        <p:spPr>
          <a:xfrm>
            <a:off x="838200" y="250825"/>
            <a:ext cx="10515600" cy="1325563"/>
          </a:xfrm>
        </p:spPr>
        <p:txBody>
          <a:bodyPr>
            <a:normAutofit/>
          </a:bodyPr>
          <a:lstStyle/>
          <a:p>
            <a:pPr algn="l"/>
            <a:r>
              <a:rPr lang="en-US" sz="3600" dirty="0">
                <a:solidFill>
                  <a:srgbClr val="D52B2E"/>
                </a:solidFill>
                <a:latin typeface="Bahnschrift Light SemiCondensed" panose="020B0502040204020203" pitchFamily="34" charset="0"/>
              </a:rPr>
              <a:t>MODULES IMPLEMENTED</a:t>
            </a:r>
          </a:p>
        </p:txBody>
      </p:sp>
      <p:pic>
        <p:nvPicPr>
          <p:cNvPr id="5" name="Picture 4">
            <a:extLst>
              <a:ext uri="{FF2B5EF4-FFF2-40B4-BE49-F238E27FC236}">
                <a16:creationId xmlns:a16="http://schemas.microsoft.com/office/drawing/2014/main" id="{C733A5BB-5BA9-FEAA-2579-FC906F6E79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7968" y="51191"/>
            <a:ext cx="2119732" cy="659784"/>
          </a:xfrm>
          <a:prstGeom prst="rect">
            <a:avLst/>
          </a:prstGeom>
        </p:spPr>
      </p:pic>
      <p:sp>
        <p:nvSpPr>
          <p:cNvPr id="6" name="Title 1">
            <a:extLst>
              <a:ext uri="{FF2B5EF4-FFF2-40B4-BE49-F238E27FC236}">
                <a16:creationId xmlns:a16="http://schemas.microsoft.com/office/drawing/2014/main" id="{B93353F3-395D-8345-30B2-CDEAFC59E110}"/>
              </a:ext>
            </a:extLst>
          </p:cNvPr>
          <p:cNvSpPr txBox="1">
            <a:spLocks/>
          </p:cNvSpPr>
          <p:nvPr/>
        </p:nvSpPr>
        <p:spPr>
          <a:xfrm>
            <a:off x="838200" y="10563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33559E"/>
                </a:solidFill>
                <a:latin typeface="Bahnschrift Light SemiCondensed" panose="020B0502040204020203" pitchFamily="34" charset="0"/>
              </a:rPr>
              <a:t>Report Builder</a:t>
            </a:r>
            <a:br>
              <a:rPr lang="en-US" sz="2400" dirty="0">
                <a:solidFill>
                  <a:srgbClr val="33559E"/>
                </a:solidFill>
                <a:latin typeface="Bahnschrift Light SemiCondensed" panose="020B0502040204020203" pitchFamily="34" charset="0"/>
              </a:rPr>
            </a:br>
            <a:endParaRPr lang="en-US" sz="2400" dirty="0">
              <a:solidFill>
                <a:srgbClr val="33559E"/>
              </a:solidFill>
              <a:latin typeface="Bahnschrift Light SemiCondensed" panose="020B0502040204020203" pitchFamily="34" charset="0"/>
            </a:endParaRPr>
          </a:p>
        </p:txBody>
      </p:sp>
      <p:sp>
        <p:nvSpPr>
          <p:cNvPr id="9" name="TextBox 8">
            <a:extLst>
              <a:ext uri="{FF2B5EF4-FFF2-40B4-BE49-F238E27FC236}">
                <a16:creationId xmlns:a16="http://schemas.microsoft.com/office/drawing/2014/main" id="{FCD397FB-40B3-8F8F-3B05-A81B0E818BB5}"/>
              </a:ext>
            </a:extLst>
          </p:cNvPr>
          <p:cNvSpPr txBox="1"/>
          <p:nvPr/>
        </p:nvSpPr>
        <p:spPr>
          <a:xfrm>
            <a:off x="838200" y="1921782"/>
            <a:ext cx="4631871" cy="3416320"/>
          </a:xfrm>
          <a:prstGeom prst="rect">
            <a:avLst/>
          </a:prstGeom>
          <a:noFill/>
        </p:spPr>
        <p:txBody>
          <a:bodyPr wrap="square">
            <a:spAutoFit/>
          </a:bodyPr>
          <a:lstStyle/>
          <a:p>
            <a:r>
              <a:rPr lang="en-US" sz="2400" dirty="0">
                <a:latin typeface="+mj-lt"/>
              </a:rPr>
              <a:t>Aggregates activity data and resolves Scope 1, 2, and 3 emissions equations in a sandboxed calculation engine. It generates structured Excel sheets and landscape PDF reports for corporate disclosures, displaying real-time calculation previews alongside final approved reportable values.</a:t>
            </a:r>
          </a:p>
        </p:txBody>
      </p:sp>
      <p:pic>
        <p:nvPicPr>
          <p:cNvPr id="4" name="Picture 3">
            <a:extLst>
              <a:ext uri="{FF2B5EF4-FFF2-40B4-BE49-F238E27FC236}">
                <a16:creationId xmlns:a16="http://schemas.microsoft.com/office/drawing/2014/main" id="{4DC2933B-52C6-1CE8-CC13-A3A2465A0314}"/>
              </a:ext>
            </a:extLst>
          </p:cNvPr>
          <p:cNvPicPr>
            <a:picLocks noChangeAspect="1"/>
          </p:cNvPicPr>
          <p:nvPr/>
        </p:nvPicPr>
        <p:blipFill>
          <a:blip r:embed="rId3"/>
          <a:stretch>
            <a:fillRect/>
          </a:stretch>
        </p:blipFill>
        <p:spPr>
          <a:xfrm>
            <a:off x="5470071" y="1776022"/>
            <a:ext cx="6607629" cy="4276216"/>
          </a:xfrm>
          <a:prstGeom prst="rect">
            <a:avLst/>
          </a:prstGeom>
        </p:spPr>
      </p:pic>
    </p:spTree>
    <p:extLst>
      <p:ext uri="{BB962C8B-B14F-4D97-AF65-F5344CB8AC3E}">
        <p14:creationId xmlns:p14="http://schemas.microsoft.com/office/powerpoint/2010/main" val="3665206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CD4D4-0C69-6CD9-E279-55FCBC0E4DA4}"/>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44E8738-ADFE-56E7-F34C-83A0DD552209}"/>
              </a:ext>
            </a:extLst>
          </p:cNvPr>
          <p:cNvSpPr>
            <a:spLocks noGrp="1"/>
          </p:cNvSpPr>
          <p:nvPr>
            <p:ph type="title"/>
          </p:nvPr>
        </p:nvSpPr>
        <p:spPr>
          <a:xfrm>
            <a:off x="838200" y="250825"/>
            <a:ext cx="10515600" cy="1325563"/>
          </a:xfrm>
        </p:spPr>
        <p:txBody>
          <a:bodyPr>
            <a:normAutofit/>
          </a:bodyPr>
          <a:lstStyle/>
          <a:p>
            <a:pPr algn="l"/>
            <a:r>
              <a:rPr lang="en-US" sz="3600" dirty="0">
                <a:solidFill>
                  <a:srgbClr val="D52B2E"/>
                </a:solidFill>
                <a:latin typeface="Bahnschrift Light SemiCondensed" panose="020B0502040204020203" pitchFamily="34" charset="0"/>
              </a:rPr>
              <a:t>MODULES IMPLEMENTED</a:t>
            </a:r>
          </a:p>
        </p:txBody>
      </p:sp>
      <p:pic>
        <p:nvPicPr>
          <p:cNvPr id="5" name="Picture 4">
            <a:extLst>
              <a:ext uri="{FF2B5EF4-FFF2-40B4-BE49-F238E27FC236}">
                <a16:creationId xmlns:a16="http://schemas.microsoft.com/office/drawing/2014/main" id="{61982805-5D64-FE53-7D50-4A559066E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7968" y="51191"/>
            <a:ext cx="2119732" cy="659784"/>
          </a:xfrm>
          <a:prstGeom prst="rect">
            <a:avLst/>
          </a:prstGeom>
        </p:spPr>
      </p:pic>
      <p:sp>
        <p:nvSpPr>
          <p:cNvPr id="6" name="Title 1">
            <a:extLst>
              <a:ext uri="{FF2B5EF4-FFF2-40B4-BE49-F238E27FC236}">
                <a16:creationId xmlns:a16="http://schemas.microsoft.com/office/drawing/2014/main" id="{B40BC3AB-5FF3-13EE-4919-F9DBD1D19A13}"/>
              </a:ext>
            </a:extLst>
          </p:cNvPr>
          <p:cNvSpPr txBox="1">
            <a:spLocks/>
          </p:cNvSpPr>
          <p:nvPr/>
        </p:nvSpPr>
        <p:spPr>
          <a:xfrm>
            <a:off x="838200" y="10563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33559E"/>
                </a:solidFill>
                <a:latin typeface="Bahnschrift Light SemiCondensed" panose="020B0502040204020203" pitchFamily="34" charset="0"/>
              </a:rPr>
              <a:t>Designing SPOC Sheets</a:t>
            </a:r>
            <a:br>
              <a:rPr lang="en-US" sz="2400" dirty="0">
                <a:solidFill>
                  <a:srgbClr val="33559E"/>
                </a:solidFill>
                <a:latin typeface="Bahnschrift Light SemiCondensed" panose="020B0502040204020203" pitchFamily="34" charset="0"/>
              </a:rPr>
            </a:br>
            <a:endParaRPr lang="en-US" sz="2400" dirty="0">
              <a:solidFill>
                <a:srgbClr val="33559E"/>
              </a:solidFill>
              <a:latin typeface="Bahnschrift Light SemiCondensed" panose="020B0502040204020203" pitchFamily="34" charset="0"/>
            </a:endParaRPr>
          </a:p>
        </p:txBody>
      </p:sp>
      <p:sp>
        <p:nvSpPr>
          <p:cNvPr id="9" name="TextBox 8">
            <a:extLst>
              <a:ext uri="{FF2B5EF4-FFF2-40B4-BE49-F238E27FC236}">
                <a16:creationId xmlns:a16="http://schemas.microsoft.com/office/drawing/2014/main" id="{24A02AB3-61A8-A807-8BCC-1CD838DEC74B}"/>
              </a:ext>
            </a:extLst>
          </p:cNvPr>
          <p:cNvSpPr txBox="1"/>
          <p:nvPr/>
        </p:nvSpPr>
        <p:spPr>
          <a:xfrm>
            <a:off x="838200" y="1921782"/>
            <a:ext cx="4631871" cy="4093428"/>
          </a:xfrm>
          <a:prstGeom prst="rect">
            <a:avLst/>
          </a:prstGeom>
          <a:noFill/>
        </p:spPr>
        <p:txBody>
          <a:bodyPr wrap="square">
            <a:spAutoFit/>
          </a:bodyPr>
          <a:lstStyle/>
          <a:p>
            <a:r>
              <a:rPr lang="en-US" sz="2000" dirty="0">
                <a:latin typeface="+mj-lt"/>
              </a:rPr>
              <a:t>The SPOC Sheet module is the main data entry interface where users enter monthly facility metrics. It presents an Excel-like grid styled with JSW Steel's color scheme, showing a white background and a blue left border on the month cell for the active reporting period. Month cells are color-coded to indicate their status, such as drafts or submitted sheets, using a dark font for high contrast. The tabs are arranged in a clean, scrollable single row with 8px status dots that show when a sheet is a draft or needs correction.</a:t>
            </a:r>
          </a:p>
        </p:txBody>
      </p:sp>
      <p:pic>
        <p:nvPicPr>
          <p:cNvPr id="10" name="Picture 9">
            <a:extLst>
              <a:ext uri="{FF2B5EF4-FFF2-40B4-BE49-F238E27FC236}">
                <a16:creationId xmlns:a16="http://schemas.microsoft.com/office/drawing/2014/main" id="{1A4CFF84-CC6B-9B4E-09B6-F6E708EB1AF1}"/>
              </a:ext>
            </a:extLst>
          </p:cNvPr>
          <p:cNvPicPr>
            <a:picLocks noChangeAspect="1"/>
          </p:cNvPicPr>
          <p:nvPr/>
        </p:nvPicPr>
        <p:blipFill>
          <a:blip r:embed="rId3"/>
          <a:stretch>
            <a:fillRect/>
          </a:stretch>
        </p:blipFill>
        <p:spPr>
          <a:xfrm>
            <a:off x="5470071" y="1921782"/>
            <a:ext cx="6607629" cy="4276216"/>
          </a:xfrm>
          <a:prstGeom prst="rect">
            <a:avLst/>
          </a:prstGeom>
        </p:spPr>
      </p:pic>
    </p:spTree>
    <p:extLst>
      <p:ext uri="{BB962C8B-B14F-4D97-AF65-F5344CB8AC3E}">
        <p14:creationId xmlns:p14="http://schemas.microsoft.com/office/powerpoint/2010/main" val="2799158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FA176-1232-3F49-5A07-589B2E27402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D6FD9B8-5A46-7909-838F-6B812C432F5B}"/>
              </a:ext>
            </a:extLst>
          </p:cNvPr>
          <p:cNvSpPr>
            <a:spLocks noGrp="1"/>
          </p:cNvSpPr>
          <p:nvPr>
            <p:ph type="title"/>
          </p:nvPr>
        </p:nvSpPr>
        <p:spPr>
          <a:xfrm>
            <a:off x="838200" y="250825"/>
            <a:ext cx="10515600" cy="1325563"/>
          </a:xfrm>
        </p:spPr>
        <p:txBody>
          <a:bodyPr>
            <a:normAutofit/>
          </a:bodyPr>
          <a:lstStyle/>
          <a:p>
            <a:pPr algn="l"/>
            <a:r>
              <a:rPr lang="en-US" sz="3600" dirty="0">
                <a:solidFill>
                  <a:srgbClr val="D52B2E"/>
                </a:solidFill>
                <a:latin typeface="Bahnschrift Light SemiCondensed" panose="020B0502040204020203" pitchFamily="34" charset="0"/>
              </a:rPr>
              <a:t>MODULES IMPLEMENTED</a:t>
            </a:r>
          </a:p>
        </p:txBody>
      </p:sp>
      <p:pic>
        <p:nvPicPr>
          <p:cNvPr id="5" name="Picture 4">
            <a:extLst>
              <a:ext uri="{FF2B5EF4-FFF2-40B4-BE49-F238E27FC236}">
                <a16:creationId xmlns:a16="http://schemas.microsoft.com/office/drawing/2014/main" id="{333E3236-1A65-5CD0-8F02-5EADDE1F9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7968" y="51191"/>
            <a:ext cx="2119732" cy="659784"/>
          </a:xfrm>
          <a:prstGeom prst="rect">
            <a:avLst/>
          </a:prstGeom>
        </p:spPr>
      </p:pic>
      <p:sp>
        <p:nvSpPr>
          <p:cNvPr id="6" name="Title 1">
            <a:extLst>
              <a:ext uri="{FF2B5EF4-FFF2-40B4-BE49-F238E27FC236}">
                <a16:creationId xmlns:a16="http://schemas.microsoft.com/office/drawing/2014/main" id="{FBF4EAA3-A4A1-FDA8-A0B3-E01DF18614ED}"/>
              </a:ext>
            </a:extLst>
          </p:cNvPr>
          <p:cNvSpPr txBox="1">
            <a:spLocks/>
          </p:cNvSpPr>
          <p:nvPr/>
        </p:nvSpPr>
        <p:spPr>
          <a:xfrm>
            <a:off x="838200" y="10563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dirty="0">
                <a:solidFill>
                  <a:srgbClr val="33559E"/>
                </a:solidFill>
                <a:latin typeface="Bahnschrift Light SemiCondensed" panose="020B0502040204020203" pitchFamily="34" charset="0"/>
              </a:rPr>
              <a:t>Designing Dashboard Widgets</a:t>
            </a:r>
            <a:br>
              <a:rPr lang="en-US" sz="2400" dirty="0">
                <a:solidFill>
                  <a:srgbClr val="33559E"/>
                </a:solidFill>
                <a:latin typeface="Bahnschrift Light SemiCondensed" panose="020B0502040204020203" pitchFamily="34" charset="0"/>
              </a:rPr>
            </a:br>
            <a:endParaRPr lang="en-US" sz="2400" dirty="0">
              <a:solidFill>
                <a:srgbClr val="33559E"/>
              </a:solidFill>
              <a:latin typeface="Bahnschrift Light SemiCondensed" panose="020B0502040204020203" pitchFamily="34" charset="0"/>
            </a:endParaRPr>
          </a:p>
        </p:txBody>
      </p:sp>
      <p:sp>
        <p:nvSpPr>
          <p:cNvPr id="9" name="TextBox 8">
            <a:extLst>
              <a:ext uri="{FF2B5EF4-FFF2-40B4-BE49-F238E27FC236}">
                <a16:creationId xmlns:a16="http://schemas.microsoft.com/office/drawing/2014/main" id="{DD9B86F9-5179-5CD9-3711-ADEBFD39EE63}"/>
              </a:ext>
            </a:extLst>
          </p:cNvPr>
          <p:cNvSpPr txBox="1"/>
          <p:nvPr/>
        </p:nvSpPr>
        <p:spPr>
          <a:xfrm>
            <a:off x="843643" y="1921782"/>
            <a:ext cx="4631871" cy="3785652"/>
          </a:xfrm>
          <a:prstGeom prst="rect">
            <a:avLst/>
          </a:prstGeom>
          <a:noFill/>
        </p:spPr>
        <p:txBody>
          <a:bodyPr wrap="square">
            <a:spAutoFit/>
          </a:bodyPr>
          <a:lstStyle/>
          <a:p>
            <a:r>
              <a:rPr lang="en-US" sz="2000" dirty="0">
                <a:latin typeface="+mj-lt"/>
              </a:rPr>
              <a:t>As all archetypes (SPOC, Approver, Admin, </a:t>
            </a:r>
            <a:r>
              <a:rPr lang="en-US" sz="2000" dirty="0" err="1">
                <a:latin typeface="+mj-lt"/>
              </a:rPr>
              <a:t>superadmin</a:t>
            </a:r>
            <a:r>
              <a:rPr lang="en-US" sz="2000" dirty="0">
                <a:latin typeface="+mj-lt"/>
              </a:rPr>
              <a:t> etc.) in this application are treated as users, creating separate dashboards for different archetypes was nearly impossible. Hence dashboard was designed as an ensemble of different widgets which appear based on the permissions user has been given.</a:t>
            </a:r>
            <a:br>
              <a:rPr lang="en-US" sz="2000" dirty="0">
                <a:latin typeface="+mj-lt"/>
              </a:rPr>
            </a:br>
            <a:r>
              <a:rPr lang="en-US" sz="2000" dirty="0">
                <a:latin typeface="+mj-lt"/>
              </a:rPr>
              <a:t>Example :</a:t>
            </a:r>
            <a:br>
              <a:rPr lang="en-US" sz="2000" dirty="0">
                <a:latin typeface="+mj-lt"/>
              </a:rPr>
            </a:br>
            <a:r>
              <a:rPr lang="en-US" sz="2000" dirty="0">
                <a:solidFill>
                  <a:srgbClr val="D94144"/>
                </a:solidFill>
                <a:latin typeface="+mj-lt"/>
              </a:rPr>
              <a:t>View Pending Approvals </a:t>
            </a:r>
            <a:r>
              <a:rPr lang="en-US" sz="2000" dirty="0">
                <a:latin typeface="+mj-lt"/>
              </a:rPr>
              <a:t>widget will only appear in the user who has approval permissions.</a:t>
            </a:r>
          </a:p>
        </p:txBody>
      </p:sp>
      <p:pic>
        <p:nvPicPr>
          <p:cNvPr id="4" name="Picture 3">
            <a:extLst>
              <a:ext uri="{FF2B5EF4-FFF2-40B4-BE49-F238E27FC236}">
                <a16:creationId xmlns:a16="http://schemas.microsoft.com/office/drawing/2014/main" id="{624C4F3C-00C4-86D2-BF33-A41F785D6990}"/>
              </a:ext>
            </a:extLst>
          </p:cNvPr>
          <p:cNvPicPr>
            <a:picLocks noChangeAspect="1"/>
          </p:cNvPicPr>
          <p:nvPr/>
        </p:nvPicPr>
        <p:blipFill>
          <a:blip r:embed="rId3"/>
          <a:stretch>
            <a:fillRect/>
          </a:stretch>
        </p:blipFill>
        <p:spPr>
          <a:xfrm>
            <a:off x="5475514" y="1921782"/>
            <a:ext cx="6596743" cy="4276216"/>
          </a:xfrm>
          <a:prstGeom prst="rect">
            <a:avLst/>
          </a:prstGeom>
        </p:spPr>
      </p:pic>
    </p:spTree>
    <p:extLst>
      <p:ext uri="{BB962C8B-B14F-4D97-AF65-F5344CB8AC3E}">
        <p14:creationId xmlns:p14="http://schemas.microsoft.com/office/powerpoint/2010/main" val="3082990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299</Words>
  <Application>Microsoft Office PowerPoint</Application>
  <PresentationFormat>Widescreen</PresentationFormat>
  <Paragraphs>14</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Bahnschrift Light SemiCondensed</vt:lpstr>
      <vt:lpstr>Calibri</vt:lpstr>
      <vt:lpstr>Calibri Light</vt:lpstr>
      <vt:lpstr>Office Theme</vt:lpstr>
      <vt:lpstr>DIGITAL GHG INVENTORY SYSTEM</vt:lpstr>
      <vt:lpstr>MODULES IMPLEMENTED</vt:lpstr>
      <vt:lpstr>MODULES IMPLEMENTED</vt:lpstr>
      <vt:lpstr>MODULES IMPLEMENTED</vt:lpstr>
      <vt:lpstr>MODULES IMPLEMENTED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SHATAM RAI</dc:creator>
  <cp:lastModifiedBy>SHATAM RAI</cp:lastModifiedBy>
  <cp:revision>1</cp:revision>
  <dcterms:created xsi:type="dcterms:W3CDTF">2026-06-14T18:08:05Z</dcterms:created>
  <dcterms:modified xsi:type="dcterms:W3CDTF">2026-06-14T19:28:58Z</dcterms:modified>
</cp:coreProperties>
</file>